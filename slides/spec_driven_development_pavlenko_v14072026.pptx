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h5x4M1JEp5bRH3jaH8ckbWffc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with the promise: this is not a lecture about AI coding. It is a demo of how specifications change the quality and predictability of AI output.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for hands. Let the awkward silence do some work. Then say: that is exactly the problem I want to solve today.</a:t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not define Spec-Driven Development yet. Keep the mental model simple: spec, plan, implement. The demo will define the concept by showing it.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 quick framing slide before the demo. The core message: we are not asking AI to be smarter; we are reducing ambiguity.</a:t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slide on screen while switching to the live demo. The repository link should not compete for attention here; put it on the final slide.</a:t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not overclaim. The demo worked because the problem was constrained and the context was explicit. That is the part teams can repeat.</a:t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the Harness explicit: it is the feedback flywheel around tests, app behavior, logs, reviews, and requirement changes.</a:t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practical summary. Avoid making this a grab bag by grouping lessons into build, work, and AI usage themes.</a:t>
            </a:r>
            <a:endParaRPr/>
          </a:p>
        </p:txBody>
      </p:sp>
      <p:sp>
        <p:nvSpPr>
          <p:cNvPr id="149" name="Google Shape;1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QR code should point to the GitHub repository, ideally containing slides, specs, and setup instructions. Use a static QR code so it lasts as long as the destination URL exists.</a:t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0B122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464040" y="228600"/>
            <a:ext cx="2331720" cy="233172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9050">
            <a:solidFill>
              <a:srgbClr val="38BDF8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9921240" y="5166360"/>
            <a:ext cx="1325880" cy="132588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5225">
            <a:solidFill>
              <a:srgbClr val="34D399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85800" y="1051560"/>
            <a:ext cx="62179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400"/>
              <a:buFont typeface="Play"/>
              <a:buNone/>
            </a:pPr>
            <a:r>
              <a:rPr b="1" i="0" lang="en-US" sz="4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Spec-Driven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400"/>
              <a:buFont typeface="Play"/>
              <a:buNone/>
            </a:pPr>
            <a:r>
              <a:rPr b="1" i="0" lang="en-US" sz="4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Development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400"/>
              <a:buFont typeface="Play"/>
              <a:buNone/>
            </a:pPr>
            <a:r>
              <a:rPr b="1" i="0" lang="en-US" sz="4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in Action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3337560"/>
            <a:ext cx="6949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Using AI to Turn Requirements into Tests and 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3232" y="477316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Denys Pavlenko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5257800"/>
            <a:ext cx="4389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Engineering </a:t>
            </a:r>
            <a:r>
              <a:rPr lang="en-US" sz="1250">
                <a:solidFill>
                  <a:srgbClr val="CBD5E1"/>
                </a:solidFill>
              </a:rPr>
              <a:t>Leader</a:t>
            </a: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@ Integrity Next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Mentor • Career Coach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13232" y="598932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linkedin.com/in/dpavlenko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360920" y="1280160"/>
            <a:ext cx="1874520" cy="594360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8BDF8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lay"/>
                <a:ea typeface="Play"/>
                <a:cs typeface="Play"/>
                <a:sym typeface="Play"/>
              </a:rPr>
              <a:t>SPEC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641080" y="2514600"/>
            <a:ext cx="1874520" cy="594360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4D399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34D399"/>
                </a:solidFill>
                <a:latin typeface="Play"/>
                <a:ea typeface="Play"/>
                <a:cs typeface="Play"/>
                <a:sym typeface="Play"/>
              </a:rPr>
              <a:t>PLAN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223760" y="3749040"/>
            <a:ext cx="1874520" cy="594360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F59E0B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rPr>
              <a:t>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9372600" y="41605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9464040" y="228600"/>
            <a:ext cx="2331720" cy="233172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9050">
            <a:solidFill>
              <a:srgbClr val="38BDF8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9921240" y="5166360"/>
            <a:ext cx="1325880" cy="132588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5225">
            <a:solidFill>
              <a:srgbClr val="34D399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77240" y="1554480"/>
            <a:ext cx="10607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800"/>
              <a:buFont typeface="Play"/>
              <a:buNone/>
            </a:pPr>
            <a:r>
              <a:rPr b="1" i="0" lang="en-US" sz="5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Who trusts</a:t>
            </a:r>
            <a:endParaRPr b="0" i="0" sz="5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800"/>
              <a:buFont typeface="Play"/>
              <a:buNone/>
            </a:pPr>
            <a:r>
              <a:rPr b="1" i="0" lang="en-US" sz="5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AI-generated code?</a:t>
            </a:r>
            <a:endParaRPr b="0" i="0" sz="5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828800" y="379476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Raise your hand if you completely trust everything it generates.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148840" y="4956048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That is exactly the problem we will solve today.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9464040" y="228600"/>
            <a:ext cx="2331720" cy="233172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9050">
            <a:solidFill>
              <a:srgbClr val="38BDF8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9921240" y="5166360"/>
            <a:ext cx="1325880" cy="132588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5225">
            <a:solidFill>
              <a:srgbClr val="34D399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594360" y="34747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IDEA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Use AI across the workflow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960120" y="2468880"/>
            <a:ext cx="2286000" cy="841248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8BDF8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Spec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429000" y="2633472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343400" y="2468880"/>
            <a:ext cx="2286000" cy="841248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4D399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Plan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812280" y="2633472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726680" y="2468880"/>
            <a:ext cx="2926080" cy="841248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F59E0B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Implement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60120" y="4069080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Most teams use AI only at the implement phase — or to generate a Jira ticket.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60120" y="4572000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Today we use it throughout the entire workflow.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9464040" y="228600"/>
            <a:ext cx="2331720" cy="233172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9050">
            <a:solidFill>
              <a:srgbClr val="38BDF8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9921240" y="5166360"/>
            <a:ext cx="1325880" cy="132588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5225">
            <a:solidFill>
              <a:srgbClr val="34D399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594360" y="34747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FRAMING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Not just better prompts — better constraints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51560" y="182880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Traditional AI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629400" y="182880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Spec-Driven AI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508760" y="2743200"/>
            <a:ext cx="3383280" cy="685800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34155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Prompt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971800" y="35204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508760" y="4069080"/>
            <a:ext cx="3383280" cy="685800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34155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Code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995160" y="2514600"/>
            <a:ext cx="1554480" cy="530352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3415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Idea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823960" y="2514600"/>
            <a:ext cx="1554480" cy="530352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8BDF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lay"/>
                <a:ea typeface="Play"/>
                <a:cs typeface="Play"/>
                <a:sym typeface="Play"/>
              </a:rPr>
              <a:t>Spec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995160" y="3474720"/>
            <a:ext cx="1554480" cy="530352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4D39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34D399"/>
                </a:solidFill>
                <a:latin typeface="Play"/>
                <a:ea typeface="Play"/>
                <a:cs typeface="Play"/>
                <a:sym typeface="Play"/>
              </a:rPr>
              <a:t>Plan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823960" y="3474720"/>
            <a:ext cx="1554480" cy="530352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F59E0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rPr>
              <a:t>Tests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909560" y="4434840"/>
            <a:ext cx="1554480" cy="530352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3415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143000" y="5257800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rPr>
              <a:t>Less context. More guessing.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629400" y="525780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More context. Less guessing.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9464040" y="228600"/>
            <a:ext cx="2331720" cy="233172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9050">
            <a:solidFill>
              <a:srgbClr val="38BDF8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9921240" y="5166360"/>
            <a:ext cx="1325880" cy="132588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5225">
            <a:solidFill>
              <a:srgbClr val="34D399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594360" y="34747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31520" y="1234440"/>
            <a:ext cx="612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400"/>
              <a:buFont typeface="Play"/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TaskFlow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86384" y="21488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Existing application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786384" y="2944368"/>
            <a:ext cx="10332720" cy="0"/>
          </a:xfrm>
          <a:prstGeom prst="straightConnector1">
            <a:avLst/>
          </a:prstGeom>
          <a:noFill/>
          <a:ln cap="flat" cmpd="sng" w="13950">
            <a:solidFill>
              <a:srgbClr val="33415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5"/>
          <p:cNvSpPr/>
          <p:nvPr/>
        </p:nvSpPr>
        <p:spPr>
          <a:xfrm>
            <a:off x="786384" y="342900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Today’s feature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86384" y="3886200"/>
            <a:ext cx="5669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Play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Password Reset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22960" y="507492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Cursor + specs/password-reset.md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315200" y="1325880"/>
            <a:ext cx="3383280" cy="502920"/>
          </a:xfrm>
          <a:prstGeom prst="rect">
            <a:avLst/>
          </a:prstGeom>
          <a:solidFill>
            <a:srgbClr val="172033"/>
          </a:solidFill>
          <a:ln cap="flat" cmpd="sng" w="12700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specs/password-reset.md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315200" y="2011680"/>
            <a:ext cx="33832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technical design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acceptance criteria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test scenarios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change requirement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9464040" y="228600"/>
            <a:ext cx="2331720" cy="233172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9050">
            <a:solidFill>
              <a:srgbClr val="38BDF8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9921240" y="5166360"/>
            <a:ext cx="1325880" cy="132588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5225">
            <a:solidFill>
              <a:srgbClr val="34D399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594360" y="34747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AFTER THE DEMO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Why did it work?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22960" y="1828800"/>
            <a:ext cx="3154680" cy="1143000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8BDF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25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Better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25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requirements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96112" y="324612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AI had enough context.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617720" y="1828800"/>
            <a:ext cx="3154680" cy="1143000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4D399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25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Shared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25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understanding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690872" y="324612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Product, QA and Engineering aligned earlier.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8412480" y="1828800"/>
            <a:ext cx="3154680" cy="1143000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F59E0B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25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Controlled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25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AI output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8485632" y="324612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We constrained the solution path.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828800" y="525780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quality improvement came from the workflow, not magic.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9464040" y="228600"/>
            <a:ext cx="2331720" cy="233172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9050">
            <a:solidFill>
              <a:srgbClr val="38BDF8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9921240" y="5166360"/>
            <a:ext cx="1325880" cy="132588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5225">
            <a:solidFill>
              <a:srgbClr val="34D399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594360" y="34747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WORKFLOW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Spec → Plan → Implement → Harness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822960" y="2377440"/>
            <a:ext cx="2057400" cy="804672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8BDF8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Spec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2971800" y="251460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611880" y="2377440"/>
            <a:ext cx="2057400" cy="804672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4D399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Plan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760720" y="251460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355080" y="2286000"/>
            <a:ext cx="2697480" cy="987552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F59E0B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100"/>
              <a:buFont typeface="Play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Implement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100"/>
              <a:buFont typeface="Play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(w/ Testing &amp; Feedback)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9189720" y="2514600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9784080" y="2286000"/>
            <a:ext cx="1874520" cy="987552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FB7185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Harness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(Feedback flywheel)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709160" y="388620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7200"/>
              <a:buFont typeface="Play"/>
              <a:buNone/>
            </a:pPr>
            <a:r>
              <a:rPr b="0" i="0" lang="en-US" sz="7200" u="none" cap="none" strike="noStrike">
                <a:solidFill>
                  <a:srgbClr val="34D399"/>
                </a:solidFill>
                <a:latin typeface="Play"/>
                <a:ea typeface="Play"/>
                <a:cs typeface="Play"/>
                <a:sym typeface="Play"/>
              </a:rPr>
              <a:t>↺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828800" y="521208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Feedback loops turn one-off AI output into a repeatable delivery system.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9464040" y="228600"/>
            <a:ext cx="2331720" cy="233172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9050">
            <a:solidFill>
              <a:srgbClr val="38BDF8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9921240" y="5166360"/>
            <a:ext cx="1325880" cy="132588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5225">
            <a:solidFill>
              <a:srgbClr val="34D399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594360" y="34747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LESSONS LEARNED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9436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What teams should take away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713232" y="1737360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Build better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13232" y="2514600"/>
            <a:ext cx="3154680" cy="438912"/>
          </a:xfrm>
          <a:prstGeom prst="rect">
            <a:avLst/>
          </a:prstGeom>
          <a:solidFill>
            <a:srgbClr val="172033"/>
          </a:solidFill>
          <a:ln cap="flat" cmpd="sng" w="10150">
            <a:solidFill>
              <a:srgbClr val="3341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F8FAFC"/>
                </a:solidFill>
              </a:rPr>
              <a:t> </a:t>
            </a:r>
            <a:r>
              <a:rPr b="0" i="0" lang="en-US" sz="15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80/20: planning before coding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13232" y="3337560"/>
            <a:ext cx="3154680" cy="438912"/>
          </a:xfrm>
          <a:prstGeom prst="rect">
            <a:avLst/>
          </a:prstGeom>
          <a:solidFill>
            <a:srgbClr val="172033"/>
          </a:solidFill>
          <a:ln cap="flat" cmpd="sng" w="10150">
            <a:solidFill>
              <a:srgbClr val="3341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F8FAFC"/>
                </a:solidFill>
              </a:rPr>
              <a:t> </a:t>
            </a:r>
            <a:r>
              <a:rPr b="0" i="0" lang="en-US" sz="15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TDD and smaller PRs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713232" y="4160520"/>
            <a:ext cx="3154680" cy="438912"/>
          </a:xfrm>
          <a:prstGeom prst="rect">
            <a:avLst/>
          </a:prstGeom>
          <a:solidFill>
            <a:srgbClr val="172033"/>
          </a:solidFill>
          <a:ln cap="flat" cmpd="sng" w="10150">
            <a:solidFill>
              <a:srgbClr val="3341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F8FAFC"/>
                </a:solidFill>
              </a:rPr>
              <a:t> </a:t>
            </a:r>
            <a:r>
              <a:rPr b="0" i="0" lang="en-US" sz="15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Discipline beats speed theatre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35424" y="1737360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Work better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535424" y="2514600"/>
            <a:ext cx="3154680" cy="438912"/>
          </a:xfrm>
          <a:prstGeom prst="rect">
            <a:avLst/>
          </a:prstGeom>
          <a:solidFill>
            <a:srgbClr val="172033"/>
          </a:solidFill>
          <a:ln cap="flat" cmpd="sng" w="10150">
            <a:solidFill>
              <a:srgbClr val="3341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F8FAFC"/>
                </a:solidFill>
              </a:rPr>
              <a:t>  </a:t>
            </a:r>
            <a:r>
              <a:rPr b="0" i="0" lang="en-US" sz="15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DEV and QA work in parallel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35424" y="3337560"/>
            <a:ext cx="3154800" cy="438900"/>
          </a:xfrm>
          <a:prstGeom prst="rect">
            <a:avLst/>
          </a:prstGeom>
          <a:solidFill>
            <a:srgbClr val="172033"/>
          </a:solidFill>
          <a:ln cap="flat" cmpd="sng" w="10150">
            <a:solidFill>
              <a:srgbClr val="3341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50"/>
              <a:buFont typeface="Arial"/>
              <a:buNone/>
            </a:pPr>
            <a:r>
              <a:rPr b="0" i="0" lang="en-US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Shared</a:t>
            </a:r>
            <a:r>
              <a:rPr lang="en-US">
                <a:solidFill>
                  <a:srgbClr val="F8FAFC"/>
                </a:solidFill>
              </a:rPr>
              <a:t> (updated)</a:t>
            </a:r>
            <a:r>
              <a:rPr b="0" i="0" lang="en-US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specs reduce</a:t>
            </a:r>
            <a:r>
              <a:rPr lang="en-US">
                <a:solidFill>
                  <a:srgbClr val="F8FAFC"/>
                </a:solidFill>
              </a:rPr>
              <a:t> </a:t>
            </a:r>
            <a:r>
              <a:rPr b="0" i="0" lang="en-US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rework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35424" y="4160520"/>
            <a:ext cx="3154680" cy="438912"/>
          </a:xfrm>
          <a:prstGeom prst="rect">
            <a:avLst/>
          </a:prstGeom>
          <a:solidFill>
            <a:srgbClr val="172033"/>
          </a:solidFill>
          <a:ln cap="flat" cmpd="sng" w="10150">
            <a:solidFill>
              <a:srgbClr val="3341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F8FAFC"/>
                </a:solidFill>
              </a:rPr>
              <a:t> </a:t>
            </a:r>
            <a:r>
              <a:rPr b="0" i="0" lang="en-US" sz="15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DORA and SPACE </a:t>
            </a:r>
            <a:r>
              <a:rPr lang="en-US" sz="1550">
                <a:solidFill>
                  <a:srgbClr val="F8FAFC"/>
                </a:solidFill>
              </a:rPr>
              <a:t>to assess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8357616" y="1737360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Use AI better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8357616" y="2514600"/>
            <a:ext cx="3154680" cy="438912"/>
          </a:xfrm>
          <a:prstGeom prst="rect">
            <a:avLst/>
          </a:prstGeom>
          <a:solidFill>
            <a:srgbClr val="172033"/>
          </a:solidFill>
          <a:ln cap="flat" cmpd="sng" w="10150">
            <a:solidFill>
              <a:srgbClr val="3341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Reset conversations when they drift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8357616" y="3337560"/>
            <a:ext cx="3154680" cy="438912"/>
          </a:xfrm>
          <a:prstGeom prst="rect">
            <a:avLst/>
          </a:prstGeom>
          <a:solidFill>
            <a:srgbClr val="172033"/>
          </a:solidFill>
          <a:ln cap="flat" cmpd="sng" w="10150">
            <a:solidFill>
              <a:srgbClr val="3341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Control beats vibe coding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8357616" y="4160520"/>
            <a:ext cx="3154680" cy="438912"/>
          </a:xfrm>
          <a:prstGeom prst="rect">
            <a:avLst/>
          </a:prstGeom>
          <a:solidFill>
            <a:srgbClr val="172033"/>
          </a:solidFill>
          <a:ln cap="flat" cmpd="sng" w="10150">
            <a:solidFill>
              <a:srgbClr val="3341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Keep humans in the judgment loop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478115" y="5895850"/>
            <a:ext cx="9235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AI makes delivery faster only when your process can absorb the speed.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13169" y="4901170"/>
            <a:ext cx="3154800" cy="438900"/>
          </a:xfrm>
          <a:prstGeom prst="rect">
            <a:avLst/>
          </a:prstGeom>
          <a:solidFill>
            <a:srgbClr val="172033"/>
          </a:solidFill>
          <a:ln cap="flat" cmpd="sng" w="10150">
            <a:solidFill>
              <a:srgbClr val="334155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F8FAFC"/>
                </a:solidFill>
              </a:rPr>
              <a:t> Quality gates after each step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518449" y="4937758"/>
            <a:ext cx="3154800" cy="438900"/>
          </a:xfrm>
          <a:prstGeom prst="rect">
            <a:avLst/>
          </a:prstGeom>
          <a:solidFill>
            <a:srgbClr val="172033"/>
          </a:solidFill>
          <a:ln cap="flat" cmpd="sng" w="10150">
            <a:solidFill>
              <a:srgbClr val="334155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F8FAFC"/>
                </a:solidFill>
              </a:rPr>
              <a:t> Retrospectives is key (Harness)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414316" y="4937758"/>
            <a:ext cx="3154800" cy="438900"/>
          </a:xfrm>
          <a:prstGeom prst="rect">
            <a:avLst/>
          </a:prstGeom>
          <a:solidFill>
            <a:srgbClr val="172033"/>
          </a:solidFill>
          <a:ln cap="flat" cmpd="sng" w="10150">
            <a:solidFill>
              <a:srgbClr val="334155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50" lIns="1650" spcFirstLastPara="1" rIns="1650" wrap="square" tIns="1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F8FAFC"/>
                </a:solidFill>
              </a:rPr>
              <a:t>Create skills to automate routine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9464040" y="228600"/>
            <a:ext cx="2331720" cy="233172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9050">
            <a:solidFill>
              <a:srgbClr val="38BDF8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9921240" y="5166360"/>
            <a:ext cx="1325880" cy="1325880"/>
          </a:xfrm>
          <a:prstGeom prst="ellipse">
            <a:avLst/>
          </a:prstGeom>
          <a:solidFill>
            <a:srgbClr val="0B1220">
              <a:alpha val="0"/>
            </a:srgbClr>
          </a:solidFill>
          <a:ln cap="flat" cmpd="sng" w="15225">
            <a:solidFill>
              <a:srgbClr val="34D399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777240" y="96012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800"/>
              <a:buFont typeface="Play"/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822960" y="187452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765598" y="402781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GitHub project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765598" y="4430113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github.com/orwanec/sdd-meetup-demo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841248" y="4027788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841248" y="4430128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linkedin.com/in/dpavlenko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9" title="qrcod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5600" y="1141925"/>
            <a:ext cx="2443200" cy="2443175"/>
          </a:xfrm>
          <a:prstGeom prst="rect">
            <a:avLst/>
          </a:prstGeom>
          <a:solidFill>
            <a:srgbClr val="172033"/>
          </a:solidFill>
          <a:ln cap="flat" cmpd="sng" w="152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2026-07-14T08:09:39Z</dcterms:created>
  <dc:creator>Denys Pavlenko</dc:creator>
</cp:coreProperties>
</file>